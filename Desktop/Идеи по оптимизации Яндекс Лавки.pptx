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FD9"/>
    <a:srgbClr val="00A1EF"/>
    <a:srgbClr val="00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9" d="100"/>
          <a:sy n="79" d="100"/>
        </p:scale>
        <p:origin x="77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0" cy="180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B5B83-B0D1-4BA3-8F61-F8B32E6C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550CE1-E209-C151-0C2B-EACC608DE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872B6-17A4-4EE5-E214-FF90D4AC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876178-DD1A-79EE-F507-32DC5975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1CF4A9-2AE5-AF5C-B36F-0EACCA20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08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5BFC9-E5F2-CDD3-4174-88444F6F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605B9-3D63-19DA-2020-B01859C2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13C4F-C66A-75AD-EEF7-B8808E54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5AF5B6-30D3-39B9-5C3D-4E9F508F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AEDDD-F7D1-0D4F-3CFB-7CE07618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3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BC47C-8709-0539-84D9-FFDF7DC25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3BF451-7D02-4B22-4CD3-F4B11D237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A1F4E-C529-3C82-AAAA-6142C39F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431498-3ADB-B93C-E572-FA0BC7F83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C6A83B-96D3-7640-EC0E-374A11B77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56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1BCED-4382-8BC3-843E-B05E8A760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11701-9498-89A1-9C75-354165440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BC84C-9106-62A9-9AB1-7636BED1E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BD40A7-54FA-48E1-F56C-2203306FA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D50664-01E3-0669-082A-690D474C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EE1BE0-861F-3EDA-5DEE-715410E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77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A6D3-AFD3-07B4-1AC0-9172E6D5D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66815E-EE33-BCB8-E267-6A78266B3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C582A30-3F6E-A4D4-4E8D-7239D6116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CEB484-B9F6-5F40-F021-B844B7175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D66296-D4F8-1896-65A2-240D3698E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1C2528-D5B4-2D36-C418-ECB25826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AC345BB-46CD-276E-9D8B-7CB80D32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36A614D-28B4-271B-3DB0-BDF16721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9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6D04F-456B-9203-0442-311CBE3A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DE87D4A-4B6E-791E-72E6-E1DFA874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08C1B7-2EE4-99EF-028C-829642ED5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613F2F-5AF3-A564-9712-2386EAC0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73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B385C9-22A3-376B-4E10-AE128C0C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36E3EA-6029-01D7-D3F8-C527EE450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AFC11A-1DFA-0BB4-F681-95264884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8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A77F6-0F3D-EA38-054B-63F3DD21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978B8-7922-C49D-32C4-D88885C8F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199B19-7EC4-AE23-03EF-41D198983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202150-8DC5-D395-59B7-E1E9164C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E0EE83-560E-B92E-925D-07740878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4FB8F8-8010-966F-6099-C6CB5938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B897-D2D7-A660-C598-7FC7BE79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6B7466-A651-45CD-A45A-6426BA77B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45FA38-4431-2315-D67D-E7481FAAA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702EBD-6B4C-1F9C-795E-CAFA193E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E95A0A-1C0F-D944-D162-E6757302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6E8978-6954-D695-A967-1E2969070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66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F56C-0FB2-6162-9578-2D49FC2C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80F112-95A5-39B7-07B4-31EDF8842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750EF5-4700-416C-4D83-8F6879E6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1F33B2-07C1-CC81-A7C5-038DEEC7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278E00-7DD4-4795-1339-FCDE8F1A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54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24E533-B31C-C399-CFCF-74B9B51B2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59CE03-C7B2-CE32-D455-01F70535D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A7B660-F572-94B3-5FDF-BFD60FD3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6470F7-2904-E13D-2D44-87F4A7DA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FA2A5-0D4B-07FA-3D1F-EFCBA2D2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51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83CD1-A76B-7F48-B719-38568892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56426C-9C7B-D0AC-E489-867A0E380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B02835-236F-0F40-1A4B-3DC88B302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2A36B-03E2-43F2-AA76-2D23EA7BF414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D6FFB5-4F0E-F97D-902F-F8535CB96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8A84E2-9B66-C6E4-1758-E524A1A97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5004-AFBB-4089-9823-E004285ADE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3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77E369-4D8D-C401-72B6-40480E241D33}"/>
              </a:ext>
            </a:extLst>
          </p:cNvPr>
          <p:cNvSpPr/>
          <p:nvPr/>
        </p:nvSpPr>
        <p:spPr>
          <a:xfrm>
            <a:off x="-204000" y="0"/>
            <a:ext cx="12600000" cy="7200000"/>
          </a:xfrm>
          <a:prstGeom prst="rect">
            <a:avLst/>
          </a:prstGeom>
          <a:solidFill>
            <a:srgbClr val="00A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078A8-62AA-0E76-CBAF-FAEE91F7BC55}"/>
              </a:ext>
            </a:extLst>
          </p:cNvPr>
          <p:cNvSpPr txBox="1"/>
          <p:nvPr/>
        </p:nvSpPr>
        <p:spPr>
          <a:xfrm>
            <a:off x="696000" y="475331"/>
            <a:ext cx="900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Потенциальное снижение расходов до 15% или около 660 млн. руб. в год с 500 лавок</a:t>
            </a:r>
          </a:p>
        </p:txBody>
      </p:sp>
      <p:pic>
        <p:nvPicPr>
          <p:cNvPr id="12" name="Рисунок 11" descr="Изображение выглядит как текст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223752B-6257-CC5E-13E8-1D1CA2EF7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9900000" y="21987"/>
            <a:ext cx="2496000" cy="701797"/>
          </a:xfrm>
          <a:prstGeom prst="rect">
            <a:avLst/>
          </a:prstGeom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D54E84C-FCD6-BC74-BFFA-A947DAC54C2A}"/>
              </a:ext>
            </a:extLst>
          </p:cNvPr>
          <p:cNvCxnSpPr/>
          <p:nvPr/>
        </p:nvCxnSpPr>
        <p:spPr>
          <a:xfrm>
            <a:off x="696000" y="1429438"/>
            <a:ext cx="10800000" cy="0"/>
          </a:xfrm>
          <a:prstGeom prst="line">
            <a:avLst/>
          </a:prstGeom>
          <a:ln w="38100">
            <a:solidFill>
              <a:srgbClr val="FF4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8D18E4-4073-D95F-12B7-0EAFDC8B5546}"/>
              </a:ext>
            </a:extLst>
          </p:cNvPr>
          <p:cNvSpPr txBox="1"/>
          <p:nvPr/>
        </p:nvSpPr>
        <p:spPr>
          <a:xfrm>
            <a:off x="3249452" y="1689325"/>
            <a:ext cx="25476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Проблема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01D35B-7A87-60E1-771B-935F469F91C5}"/>
              </a:ext>
            </a:extLst>
          </p:cNvPr>
          <p:cNvSpPr txBox="1"/>
          <p:nvPr/>
        </p:nvSpPr>
        <p:spPr>
          <a:xfrm>
            <a:off x="779388" y="1738077"/>
            <a:ext cx="16476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Цель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FDED27-6AE7-0C5D-35BC-BD0F65BD030B}"/>
              </a:ext>
            </a:extLst>
          </p:cNvPr>
          <p:cNvSpPr txBox="1"/>
          <p:nvPr/>
        </p:nvSpPr>
        <p:spPr>
          <a:xfrm>
            <a:off x="-120612" y="2794083"/>
            <a:ext cx="344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Сокращение удельных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затрат на штат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кладовщик + сборщик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1,2 млн. руб. в год –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лавка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F53343-F378-283E-098A-C5E27C4A07EC}"/>
              </a:ext>
            </a:extLst>
          </p:cNvPr>
          <p:cNvSpPr txBox="1"/>
          <p:nvPr/>
        </p:nvSpPr>
        <p:spPr>
          <a:xfrm>
            <a:off x="-120612" y="4986329"/>
            <a:ext cx="344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Сокращение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просроченной продукции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120 тыс. руб. в год – </a:t>
            </a:r>
            <a:b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лавка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ABE7E7-75E5-6C62-E3E4-695EB5FE4C99}"/>
              </a:ext>
            </a:extLst>
          </p:cNvPr>
          <p:cNvSpPr txBox="1"/>
          <p:nvPr/>
        </p:nvSpPr>
        <p:spPr>
          <a:xfrm>
            <a:off x="6478896" y="1550826"/>
            <a:ext cx="216937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Гипотезы решения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DEA38-6C82-4B5B-AF37-091BB6D06570}"/>
              </a:ext>
            </a:extLst>
          </p:cNvPr>
          <p:cNvSpPr txBox="1"/>
          <p:nvPr/>
        </p:nvSpPr>
        <p:spPr>
          <a:xfrm>
            <a:off x="9652502" y="1636567"/>
            <a:ext cx="20040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Профит</a:t>
            </a:r>
          </a:p>
        </p:txBody>
      </p: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39AAF401-E2C5-D705-7741-A36C3A18A80B}"/>
              </a:ext>
            </a:extLst>
          </p:cNvPr>
          <p:cNvGrpSpPr/>
          <p:nvPr/>
        </p:nvGrpSpPr>
        <p:grpSpPr>
          <a:xfrm>
            <a:off x="2963010" y="2520211"/>
            <a:ext cx="9251735" cy="1871183"/>
            <a:chOff x="2963010" y="2520211"/>
            <a:chExt cx="9251735" cy="187118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58A4BA-5806-0A9E-8B17-E7123F5A15B3}"/>
                </a:ext>
              </a:extLst>
            </p:cNvPr>
            <p:cNvSpPr txBox="1"/>
            <p:nvPr/>
          </p:nvSpPr>
          <p:spPr>
            <a:xfrm>
              <a:off x="2963010" y="2520211"/>
              <a:ext cx="312048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Отсутствие простой структуры размещения товаров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2778F7-CF37-AD85-48AD-9C7E199582C6}"/>
                </a:ext>
              </a:extLst>
            </p:cNvPr>
            <p:cNvSpPr txBox="1"/>
            <p:nvPr/>
          </p:nvSpPr>
          <p:spPr>
            <a:xfrm>
              <a:off x="3106231" y="3683508"/>
              <a:ext cx="283404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Длительный поиск товара на полке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6455A8-08B0-2989-0FD0-ECB3E8DC9461}"/>
                </a:ext>
              </a:extLst>
            </p:cNvPr>
            <p:cNvSpPr txBox="1"/>
            <p:nvPr/>
          </p:nvSpPr>
          <p:spPr>
            <a:xfrm>
              <a:off x="6003341" y="2520211"/>
              <a:ext cx="312048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Упростить размещение товаров за счет доработки функций ТСД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C55513E-DB22-EE0C-47CA-553BD6076663}"/>
                </a:ext>
              </a:extLst>
            </p:cNvPr>
            <p:cNvSpPr txBox="1"/>
            <p:nvPr/>
          </p:nvSpPr>
          <p:spPr>
            <a:xfrm>
              <a:off x="6003341" y="3560397"/>
              <a:ext cx="312048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Добавить подсветку товаров на полке при сборке и размещении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98FBDE5-6D15-FD4C-8B5F-3FC82A786E29}"/>
                </a:ext>
              </a:extLst>
            </p:cNvPr>
            <p:cNvSpPr txBox="1"/>
            <p:nvPr/>
          </p:nvSpPr>
          <p:spPr>
            <a:xfrm>
              <a:off x="9094260" y="2643322"/>
              <a:ext cx="312048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Сокращение времени на размещение товаров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7430A28-F843-BF3B-6CD4-C8A1A54797D5}"/>
                </a:ext>
              </a:extLst>
            </p:cNvPr>
            <p:cNvSpPr txBox="1"/>
            <p:nvPr/>
          </p:nvSpPr>
          <p:spPr>
            <a:xfrm>
              <a:off x="9094260" y="3683508"/>
              <a:ext cx="312048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Сокращение времени на сборку заказов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A9982984-A05C-8B3F-E86C-0987E8AC0649}"/>
              </a:ext>
            </a:extLst>
          </p:cNvPr>
          <p:cNvGrpSpPr/>
          <p:nvPr/>
        </p:nvGrpSpPr>
        <p:grpSpPr>
          <a:xfrm>
            <a:off x="3106231" y="4718166"/>
            <a:ext cx="9108514" cy="1613544"/>
            <a:chOff x="3106231" y="4718166"/>
            <a:chExt cx="9108514" cy="161354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1324A8-C8DA-E292-2187-935BEDA05F52}"/>
                </a:ext>
              </a:extLst>
            </p:cNvPr>
            <p:cNvSpPr txBox="1"/>
            <p:nvPr/>
          </p:nvSpPr>
          <p:spPr>
            <a:xfrm>
              <a:off x="3106231" y="4841277"/>
              <a:ext cx="2834042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Не соблюдение </a:t>
              </a:r>
              <a:b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</a:br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ротации товаров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67D804-E550-7053-85C8-695C4F904909}"/>
                </a:ext>
              </a:extLst>
            </p:cNvPr>
            <p:cNvSpPr txBox="1"/>
            <p:nvPr/>
          </p:nvSpPr>
          <p:spPr>
            <a:xfrm>
              <a:off x="3106231" y="5870045"/>
              <a:ext cx="283404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Переполнение склада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8AB2A8-733E-6ED5-C17F-633B4C116D40}"/>
                </a:ext>
              </a:extLst>
            </p:cNvPr>
            <p:cNvSpPr txBox="1"/>
            <p:nvPr/>
          </p:nvSpPr>
          <p:spPr>
            <a:xfrm>
              <a:off x="6003341" y="4718166"/>
              <a:ext cx="312048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Сделать удобные контейнеры для хранения товаров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908EB5-A388-12C8-858F-DF7E7795B6EE}"/>
                </a:ext>
              </a:extLst>
            </p:cNvPr>
            <p:cNvSpPr txBox="1"/>
            <p:nvPr/>
          </p:nvSpPr>
          <p:spPr>
            <a:xfrm>
              <a:off x="6003341" y="5746935"/>
              <a:ext cx="312048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Доработать систему автозаказа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43173A-6D83-DB70-0437-FAEF7A65FB5B}"/>
                </a:ext>
              </a:extLst>
            </p:cNvPr>
            <p:cNvSpPr txBox="1"/>
            <p:nvPr/>
          </p:nvSpPr>
          <p:spPr>
            <a:xfrm>
              <a:off x="9094260" y="4964387"/>
              <a:ext cx="312048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Удобство ротации товаров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9818D9-0B7A-64A0-09E7-36043C31BEE8}"/>
                </a:ext>
              </a:extLst>
            </p:cNvPr>
            <p:cNvSpPr txBox="1"/>
            <p:nvPr/>
          </p:nvSpPr>
          <p:spPr>
            <a:xfrm>
              <a:off x="9094260" y="5746935"/>
              <a:ext cx="3120485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Минимизация возможности переполнения склада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03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77E369-4D8D-C401-72B6-40480E241D33}"/>
              </a:ext>
            </a:extLst>
          </p:cNvPr>
          <p:cNvSpPr/>
          <p:nvPr/>
        </p:nvSpPr>
        <p:spPr>
          <a:xfrm>
            <a:off x="-198532" y="0"/>
            <a:ext cx="12600000" cy="6858000"/>
          </a:xfrm>
          <a:prstGeom prst="rect">
            <a:avLst/>
          </a:prstGeom>
          <a:solidFill>
            <a:srgbClr val="00A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078A8-62AA-0E76-CBAF-FAEE91F7BC55}"/>
              </a:ext>
            </a:extLst>
          </p:cNvPr>
          <p:cNvSpPr txBox="1"/>
          <p:nvPr/>
        </p:nvSpPr>
        <p:spPr>
          <a:xfrm>
            <a:off x="696000" y="475331"/>
            <a:ext cx="1080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Сокращение удельных затрат на штат </a:t>
            </a:r>
            <a:b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кладовщик + сборщик </a:t>
            </a:r>
            <a:r>
              <a:rPr 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1,2 млн. руб. в год – 1 лавка</a:t>
            </a:r>
          </a:p>
        </p:txBody>
      </p:sp>
      <p:pic>
        <p:nvPicPr>
          <p:cNvPr id="12" name="Рисунок 11" descr="Изображение выглядит как текст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223752B-6257-CC5E-13E8-1D1CA2EF7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9900000" y="21987"/>
            <a:ext cx="2496000" cy="701797"/>
          </a:xfrm>
          <a:prstGeom prst="rect">
            <a:avLst/>
          </a:prstGeom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D54E84C-FCD6-BC74-BFFA-A947DAC54C2A}"/>
              </a:ext>
            </a:extLst>
          </p:cNvPr>
          <p:cNvCxnSpPr/>
          <p:nvPr/>
        </p:nvCxnSpPr>
        <p:spPr>
          <a:xfrm>
            <a:off x="696000" y="1429438"/>
            <a:ext cx="10800000" cy="0"/>
          </a:xfrm>
          <a:prstGeom prst="line">
            <a:avLst/>
          </a:prstGeom>
          <a:ln w="38100">
            <a:solidFill>
              <a:srgbClr val="FF4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7A516D-2C27-C9BF-4AD2-21AA35A71119}"/>
              </a:ext>
            </a:extLst>
          </p:cNvPr>
          <p:cNvSpPr txBox="1"/>
          <p:nvPr/>
        </p:nvSpPr>
        <p:spPr>
          <a:xfrm>
            <a:off x="695999" y="1629000"/>
            <a:ext cx="601331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Для улучшения системы размещения товаров в складе предлагаются следующие изменения:</a:t>
            </a:r>
            <a:br>
              <a:rPr lang="en-US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5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﻿﻿﻿Добавление подсчета доступного места на полке в ТСД, чтобы ограничить добавление товаров там, где места недостаточно.</a:t>
            </a:r>
            <a:b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5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﻿﻿﻿2. Внедрение подсветки для указания места размещения товаров и для обозначения при сборке товаров, что уменьшит время на выполнение этих задач и упростит работу для сотрудников.</a:t>
            </a:r>
            <a:b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5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﻿﻿﻿3. Использование контейнеров, особенно в холодильниках, для упрощения процесса ротации товаров путем сдвига старого товара вперед и размещения нового сзади.</a:t>
            </a:r>
            <a:b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5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5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Эти меры направлены на оптимизацию работы склада. сокращение времени на размещение и сборку товаров, а также упрощение обучения новых сотрудников благодаря интуитивно понятной системе.</a:t>
            </a:r>
          </a:p>
        </p:txBody>
      </p:sp>
      <p:pic>
        <p:nvPicPr>
          <p:cNvPr id="13" name="Рисунок 12" descr="Изображение выглядит как млекопитающее, картина, медведь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F833C6-EFFC-0D81-A441-138A05E77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5052"/>
          <a:stretch/>
        </p:blipFill>
        <p:spPr>
          <a:xfrm>
            <a:off x="7312544" y="1664756"/>
            <a:ext cx="4485695" cy="536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0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77E369-4D8D-C401-72B6-40480E241D33}"/>
              </a:ext>
            </a:extLst>
          </p:cNvPr>
          <p:cNvSpPr/>
          <p:nvPr/>
        </p:nvSpPr>
        <p:spPr>
          <a:xfrm>
            <a:off x="-198532" y="0"/>
            <a:ext cx="12600000" cy="7200000"/>
          </a:xfrm>
          <a:prstGeom prst="rect">
            <a:avLst/>
          </a:prstGeom>
          <a:solidFill>
            <a:srgbClr val="00A1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078A8-62AA-0E76-CBAF-FAEE91F7BC55}"/>
              </a:ext>
            </a:extLst>
          </p:cNvPr>
          <p:cNvSpPr txBox="1"/>
          <p:nvPr/>
        </p:nvSpPr>
        <p:spPr>
          <a:xfrm>
            <a:off x="696000" y="475331"/>
            <a:ext cx="1080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Сокращение просроченной продукции </a:t>
            </a:r>
            <a:b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</a:t>
            </a:r>
            <a:r>
              <a:rPr lang="ru-RU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120 тыс. руб. в год – 1 лавка</a:t>
            </a:r>
          </a:p>
        </p:txBody>
      </p:sp>
      <p:pic>
        <p:nvPicPr>
          <p:cNvPr id="12" name="Рисунок 11" descr="Изображение выглядит как текст, Шрифт, снимок экрана, логотип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223752B-6257-CC5E-13E8-1D1CA2EF7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9900000" y="21987"/>
            <a:ext cx="2496000" cy="701797"/>
          </a:xfrm>
          <a:prstGeom prst="rect">
            <a:avLst/>
          </a:prstGeom>
        </p:spPr>
      </p:pic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CD54E84C-FCD6-BC74-BFFA-A947DAC54C2A}"/>
              </a:ext>
            </a:extLst>
          </p:cNvPr>
          <p:cNvCxnSpPr/>
          <p:nvPr/>
        </p:nvCxnSpPr>
        <p:spPr>
          <a:xfrm>
            <a:off x="696000" y="1429438"/>
            <a:ext cx="10800000" cy="0"/>
          </a:xfrm>
          <a:prstGeom prst="line">
            <a:avLst/>
          </a:prstGeom>
          <a:ln w="38100">
            <a:solidFill>
              <a:srgbClr val="FF4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7A516D-2C27-C9BF-4AD2-21AA35A71119}"/>
              </a:ext>
            </a:extLst>
          </p:cNvPr>
          <p:cNvSpPr txBox="1"/>
          <p:nvPr/>
        </p:nvSpPr>
        <p:spPr>
          <a:xfrm>
            <a:off x="696000" y="1897731"/>
            <a:ext cx="54000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Новая система с использованием контейнеров на каждой полке значительно упростит процесс ротации товаров.</a:t>
            </a:r>
            <a:b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Это позволит быстро и эффективно перемещать старые товары вперед и новые - назад, минимизируя риск смешивания и улучшая организацию склада.</a:t>
            </a:r>
            <a:b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Такой подход гарантирует строгий контроль за ротацией, что ведет к значительному сокращению просроченного товара и увеличению его реализации.</a:t>
            </a:r>
            <a:b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ru-RU" sz="1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ru-RU" sz="1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Результатом станет увеличение прибыли и снижение убытков благодаря более эффективному управлению запасами.</a:t>
            </a:r>
          </a:p>
        </p:txBody>
      </p:sp>
      <p:pic>
        <p:nvPicPr>
          <p:cNvPr id="5" name="Рисунок 4" descr="Изображение выглядит как в помещении, проход, запасы, Стеллаж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CB1C6BA-72C0-E30F-B4EB-612A0979B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538" y="1629000"/>
            <a:ext cx="4377462" cy="2481267"/>
          </a:xfrm>
          <a:prstGeom prst="rect">
            <a:avLst/>
          </a:prstGeom>
        </p:spPr>
      </p:pic>
      <p:pic>
        <p:nvPicPr>
          <p:cNvPr id="8" name="Рисунок 7" descr="Изображение выглядит как контейнер, коробка, корзи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ABE4499-B538-441D-0FAB-C79001D7D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4"/>
          <a:stretch/>
        </p:blipFill>
        <p:spPr>
          <a:xfrm>
            <a:off x="7118538" y="4238216"/>
            <a:ext cx="4377462" cy="198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438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348</Words>
  <Application>Microsoft Office PowerPoint</Application>
  <PresentationFormat>Широкоэкранный</PresentationFormat>
  <Paragraphs>30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Microsoft YaHei</vt:lpstr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Arhipov</dc:creator>
  <cp:lastModifiedBy>Daniil Arhipov</cp:lastModifiedBy>
  <cp:revision>4</cp:revision>
  <dcterms:created xsi:type="dcterms:W3CDTF">2025-10-08T16:53:29Z</dcterms:created>
  <dcterms:modified xsi:type="dcterms:W3CDTF">2025-10-08T18:04:35Z</dcterms:modified>
</cp:coreProperties>
</file>